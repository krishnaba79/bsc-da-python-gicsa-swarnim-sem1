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8C38-946A-9504-527C-76643CFB4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214FF-9891-8919-A460-EB5B38CB1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ABFF-2AC1-F8FF-79C0-B7EB43CA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05F7E-DD73-66AD-8E00-64442B33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87A9B-D97D-511B-300A-7770CBAF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11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E1E0-AECF-6B6C-1B84-6A2CC89A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26C98-40FF-5508-53F0-BE68EB12A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010DD-91E3-834A-E5B9-E97C2411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DC21-6856-1A46-E64E-A85CE249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ECC97-D753-4EB7-E0B9-63100653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86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7D2E-C79B-7C57-8975-4CEB7DFD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BF32F-3366-C366-4258-37192C3C2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867E2-5EFC-511A-537F-8CBE650E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1968D-29CC-7CA9-23E7-827FFC4C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7B4E-176E-54A4-EBEF-C7C18EC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0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18E4-2E9F-2934-F8D7-CF64DAB8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67D7-F856-22B5-7B82-887AC50BE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A2128-FF41-FB5A-7277-54E3757C8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486B5-58FE-87C7-C0B0-56F27DB8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71F1-124F-7257-98CA-08A97D3C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3A4C3-3E6A-64CE-5A9F-5E7D5948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93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6C31-AD8C-5ACE-F178-38EC920D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4A35-1919-3920-24DD-5CD649B33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2BD85-7966-3B84-2726-09A39D96F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8DC18-8328-DA73-37CB-B2E346866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4CC8B-C233-5A13-17CD-11A4378CB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C480A-636D-DCF1-15FD-C2251875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54660-925C-9773-1B1A-05AF3630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FEFB35-F680-CE1F-3B4B-6864474B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3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A610-06FD-6334-2810-29E667EA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22D78-BB29-4582-4ACA-E6426B37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6FC33-A058-2DFF-45CA-D4CBC8E3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EC48E-02F9-5959-574A-5DF39DE1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4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9E0F8-1FB0-9A9D-2481-7C58F5E3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DC077-C79C-11CC-4294-6E69DBC2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EC833-629F-DE00-6FD9-BEAB7E5E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8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BC0E-0009-FAD8-7E9A-4AE0A8B5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2414C-148A-7A65-E238-0ACD969C6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E4662-7E3D-5963-1FBC-F7839EAE1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96774-7A9E-2A6D-9C60-B19C67FE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260D-3766-69A6-0E08-9ED249A6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B414F-B33D-B92A-04FB-E3717EA9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45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F627-2F74-EA6A-DF7E-9AD6B403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15FE7-3F44-B19E-7A36-4999F05BD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B07F5-8953-2F35-04CA-11D75C379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C96D3-C088-F889-DE7C-C6BA15C1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3F6F2-2D86-9A89-F6EC-D7B9F438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0A71A-3D69-71A6-FE3F-A70C6F7B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88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27D8-CB11-C234-2BB8-E816E453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EC39C-C161-6238-06BA-5F0BA3D26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F16E-D7AD-8E16-D80A-1BA25ADB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17377-DF34-1BFA-8610-8F7E2E24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C6A25-31AD-44AF-054F-B8894AB7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9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C8BB9-0983-E01F-C180-3332FEB8C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95491-6E23-6CB5-6337-B3D4421B2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E1C9F-5319-36F9-C97E-FB10CC8A6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E9639-1D78-A256-6E98-61EDB6D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DC44-2476-FEAA-C084-AB8795AF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2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3898A-D2D2-1051-7106-A248E921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B2277-ABC2-2691-1EE4-4257C19E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149E-E8F5-A9CF-C9B7-82E88E73C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D2FF7-9429-4264-89CE-5F72E5E32C7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4DB4D-F2C3-D9E7-C306-87AA091C7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5AB33-5006-C1F0-F0B2-72AC2B137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8DAB4-694A-4044-B0B8-6A66E2A2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71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F716-6EF5-0370-BA54-BCB005D040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5E1C3-11CC-157E-5AB8-CD1644FA7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96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C13C-29A4-9673-F8F3-E728E345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198F5-8ED0-E8A3-78DA-17EB04DB9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 is Python?</a:t>
            </a:r>
          </a:p>
          <a:p>
            <a:r>
              <a:rPr lang="en-US" dirty="0"/>
              <a:t>Python is a high-level, interpreted, and object-oriented programming language created by Guido van Rossum. It is simple, easy to learn, and widely used for:</a:t>
            </a:r>
          </a:p>
          <a:p>
            <a:r>
              <a:rPr lang="en-US" dirty="0"/>
              <a:t>Web Development </a:t>
            </a:r>
          </a:p>
          <a:p>
            <a:r>
              <a:rPr lang="en-US" dirty="0"/>
              <a:t>Data Science </a:t>
            </a:r>
          </a:p>
          <a:p>
            <a:r>
              <a:rPr lang="en-US" dirty="0"/>
              <a:t>Artificial Intelligence </a:t>
            </a:r>
          </a:p>
          <a:p>
            <a:r>
              <a:rPr lang="en-US" dirty="0"/>
              <a:t>Machine Learning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Game Development </a:t>
            </a:r>
          </a:p>
          <a:p>
            <a:r>
              <a:rPr lang="en-US" dirty="0"/>
              <a:t>Desktop Applications </a:t>
            </a:r>
          </a:p>
          <a:p>
            <a:r>
              <a:rPr lang="en-US" dirty="0"/>
              <a:t>IoT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643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68AA-5152-CF88-B328-253476A2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EE8BE-73E9-FCF2-BAA6-A4FF40CE9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Features of Python</a:t>
            </a:r>
          </a:p>
          <a:p>
            <a:r>
              <a:rPr lang="en-US" dirty="0"/>
              <a:t>Easy and simple syntax </a:t>
            </a:r>
          </a:p>
          <a:p>
            <a:r>
              <a:rPr lang="en-US" dirty="0"/>
              <a:t>Open-source language </a:t>
            </a:r>
          </a:p>
          <a:p>
            <a:r>
              <a:rPr lang="en-US" dirty="0"/>
              <a:t>Platform independent </a:t>
            </a:r>
          </a:p>
          <a:p>
            <a:r>
              <a:rPr lang="en-US" dirty="0"/>
              <a:t>Interpreted language </a:t>
            </a:r>
          </a:p>
          <a:p>
            <a:r>
              <a:rPr lang="en-US" dirty="0"/>
              <a:t>Supports Object-Oriented Programming </a:t>
            </a:r>
          </a:p>
          <a:p>
            <a:r>
              <a:rPr lang="en-US" dirty="0"/>
              <a:t>Large standard library </a:t>
            </a:r>
          </a:p>
          <a:p>
            <a:r>
              <a:rPr lang="en-US" dirty="0"/>
              <a:t>Dynamically typed language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28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1219-BD7F-7C12-1ABD-CED9F5DF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4B49-02B4-38D9-E48D-D22127D8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Conceptual 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29F54-87F2-A7DE-8CB9-BDBBD514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Applications of Python</a:t>
            </a:r>
          </a:p>
          <a:p>
            <a:r>
              <a:rPr lang="en-US" dirty="0"/>
              <a:t>Web Applications </a:t>
            </a:r>
          </a:p>
          <a:p>
            <a:r>
              <a:rPr lang="en-US" dirty="0"/>
              <a:t>Data Analysis </a:t>
            </a:r>
          </a:p>
          <a:p>
            <a:r>
              <a:rPr lang="en-US" dirty="0"/>
              <a:t>Cyber Security </a:t>
            </a:r>
          </a:p>
          <a:p>
            <a:r>
              <a:rPr lang="en-US" dirty="0"/>
              <a:t>Software Development </a:t>
            </a:r>
          </a:p>
          <a:p>
            <a:r>
              <a:rPr lang="en-US" dirty="0"/>
              <a:t>Automation Scripts </a:t>
            </a:r>
          </a:p>
          <a:p>
            <a:r>
              <a:rPr lang="en-US" dirty="0"/>
              <a:t>Cloud Computing </a:t>
            </a:r>
          </a:p>
        </p:txBody>
      </p:sp>
    </p:spTree>
    <p:extLst>
      <p:ext uri="{BB962C8B-B14F-4D97-AF65-F5344CB8AC3E}">
        <p14:creationId xmlns:p14="http://schemas.microsoft.com/office/powerpoint/2010/main" val="40675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5CCC-07B1-E672-40C0-F53DB7A2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Installation and Working with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D789-1A34-9722-469A-64EBEA88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Installing Python</a:t>
            </a:r>
          </a:p>
          <a:p>
            <a:r>
              <a:rPr lang="en-IN" b="1" dirty="0"/>
              <a:t>Step 1: Download Python</a:t>
            </a:r>
          </a:p>
          <a:p>
            <a:r>
              <a:rPr lang="en-IN" dirty="0"/>
              <a:t>Visit the official website:</a:t>
            </a:r>
          </a:p>
          <a:p>
            <a:r>
              <a:rPr lang="en-IN" dirty="0">
                <a:hlinkClick r:id="rId2"/>
              </a:rPr>
              <a:t>Python Official Website</a:t>
            </a:r>
            <a:endParaRPr lang="en-IN" dirty="0"/>
          </a:p>
          <a:p>
            <a:r>
              <a:rPr lang="en-IN" b="1" dirty="0"/>
              <a:t>Step 2: Install Python</a:t>
            </a:r>
          </a:p>
          <a:p>
            <a:r>
              <a:rPr lang="en-IN" dirty="0"/>
              <a:t>Download the latest version </a:t>
            </a:r>
          </a:p>
          <a:p>
            <a:r>
              <a:rPr lang="en-IN" dirty="0"/>
              <a:t>Run the installer </a:t>
            </a:r>
          </a:p>
          <a:p>
            <a:r>
              <a:rPr lang="en-IN" dirty="0"/>
              <a:t>Select </a:t>
            </a:r>
            <a:r>
              <a:rPr lang="en-IN" b="1" dirty="0"/>
              <a:t>“Add Python to PATH”</a:t>
            </a:r>
            <a:r>
              <a:rPr lang="en-IN" dirty="0"/>
              <a:t> </a:t>
            </a:r>
          </a:p>
          <a:p>
            <a:r>
              <a:rPr lang="en-IN" dirty="0"/>
              <a:t>Click </a:t>
            </a:r>
            <a:r>
              <a:rPr lang="en-IN" b="1" dirty="0"/>
              <a:t>Install Now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9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4169-DA57-B2D2-7FEB-B5FC8E31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CA36-C5C2-FBAB-DF6A-EFF897FE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Installation and Working with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7149-2D56-2134-4303-3235FA9ED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Installing Visual Studio Code</a:t>
            </a:r>
          </a:p>
          <a:p>
            <a:r>
              <a:rPr lang="en-IN" b="1" dirty="0"/>
              <a:t>Download VS Code</a:t>
            </a:r>
          </a:p>
          <a:p>
            <a:r>
              <a:rPr lang="en-IN" dirty="0">
                <a:hlinkClick r:id="rId2"/>
              </a:rPr>
              <a:t>Visual Studio Code Official Website</a:t>
            </a:r>
            <a:endParaRPr lang="en-IN" dirty="0"/>
          </a:p>
          <a:p>
            <a:r>
              <a:rPr lang="en-IN" b="1" dirty="0"/>
              <a:t>Steps</a:t>
            </a:r>
          </a:p>
          <a:p>
            <a:r>
              <a:rPr lang="en-IN" dirty="0"/>
              <a:t>Download VS Code </a:t>
            </a:r>
          </a:p>
          <a:p>
            <a:r>
              <a:rPr lang="en-IN" dirty="0"/>
              <a:t>Install the software </a:t>
            </a:r>
          </a:p>
          <a:p>
            <a:r>
              <a:rPr lang="en-IN" dirty="0"/>
              <a:t>Open VS Code </a:t>
            </a:r>
          </a:p>
          <a:p>
            <a:r>
              <a:rPr lang="en-IN" dirty="0"/>
              <a:t>Install Python Extension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43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0C63-D3FE-2103-53B4-BA412434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ED9B-5357-CAC7-3BF0-1FF71443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Installation and Working with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B1D5-0FDE-44FF-A5CD-A66527050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Installing Python Extension in VS Code</a:t>
            </a:r>
          </a:p>
          <a:p>
            <a:r>
              <a:rPr lang="en-US" dirty="0"/>
              <a:t>Open VS Code </a:t>
            </a:r>
          </a:p>
          <a:p>
            <a:r>
              <a:rPr lang="en-US" dirty="0"/>
              <a:t>Go to Extensions </a:t>
            </a:r>
          </a:p>
          <a:p>
            <a:r>
              <a:rPr lang="en-US" dirty="0"/>
              <a:t>Search for “Python” </a:t>
            </a:r>
          </a:p>
          <a:p>
            <a:r>
              <a:rPr lang="en-US" dirty="0"/>
              <a:t>Install extension by Microsoft</a:t>
            </a:r>
          </a:p>
        </p:txBody>
      </p:sp>
    </p:spTree>
    <p:extLst>
      <p:ext uri="{BB962C8B-B14F-4D97-AF65-F5344CB8AC3E}">
        <p14:creationId xmlns:p14="http://schemas.microsoft.com/office/powerpoint/2010/main" val="399840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B5CB-0403-972A-5B57-86B11ECB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Running First Python Program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E83FF-D65F-B7F8-F56C-F4E7441DD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Example Program</a:t>
            </a:r>
          </a:p>
          <a:p>
            <a:r>
              <a:rPr lang="en-US" dirty="0"/>
              <a:t>print("Hello World")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Hello World</a:t>
            </a:r>
          </a:p>
          <a:p>
            <a:r>
              <a:rPr lang="en-US" b="1" dirty="0"/>
              <a:t>Steps to Run Program</a:t>
            </a:r>
          </a:p>
          <a:p>
            <a:r>
              <a:rPr lang="en-US" dirty="0"/>
              <a:t>Open VS Code </a:t>
            </a:r>
          </a:p>
          <a:p>
            <a:r>
              <a:rPr lang="en-US" dirty="0"/>
              <a:t>Create a new file with .</a:t>
            </a:r>
            <a:r>
              <a:rPr lang="en-US" dirty="0" err="1"/>
              <a:t>py</a:t>
            </a:r>
            <a:r>
              <a:rPr lang="en-US" dirty="0"/>
              <a:t> extension </a:t>
            </a:r>
          </a:p>
          <a:p>
            <a:r>
              <a:rPr lang="en-US" dirty="0"/>
              <a:t>Write Python code </a:t>
            </a:r>
          </a:p>
          <a:p>
            <a:r>
              <a:rPr lang="en-US" dirty="0"/>
              <a:t>Save the file </a:t>
            </a:r>
          </a:p>
          <a:p>
            <a:r>
              <a:rPr lang="en-US" dirty="0"/>
              <a:t>Click Run button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3768A-9DF9-1A28-AA2A-805A12B00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737" y="2020828"/>
            <a:ext cx="4458086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4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B9E3-3FD2-AED1-D418-D7E351FA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Understanding 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3CE85-6695-E7E1-E203-F24BA4EB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Variable?</a:t>
            </a:r>
          </a:p>
          <a:p>
            <a:r>
              <a:rPr lang="en-US" dirty="0"/>
              <a:t>A variable is a container used to store data values.</a:t>
            </a:r>
          </a:p>
          <a:p>
            <a:r>
              <a:rPr lang="en-US" b="1" dirty="0"/>
              <a:t>Rules for Variable Names</a:t>
            </a:r>
          </a:p>
          <a:p>
            <a:r>
              <a:rPr lang="en-US" dirty="0"/>
              <a:t>Variable name can contain letters, digits, and underscore </a:t>
            </a:r>
          </a:p>
          <a:p>
            <a:r>
              <a:rPr lang="en-US" dirty="0"/>
              <a:t>Cannot start with a digit </a:t>
            </a:r>
          </a:p>
          <a:p>
            <a:r>
              <a:rPr lang="en-US" dirty="0"/>
              <a:t>Cannot use special symbols </a:t>
            </a:r>
          </a:p>
          <a:p>
            <a:r>
              <a:rPr lang="en-US" dirty="0"/>
              <a:t>Keywords are not allowed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40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D057-8A0B-4AEA-E999-D5513FB6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4003-628A-C330-616F-BE8A7BF5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Understanding 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80B0F-9686-00AF-C3D8-A71E362D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name = "john"</a:t>
            </a:r>
          </a:p>
          <a:p>
            <a:r>
              <a:rPr lang="en-US" dirty="0"/>
              <a:t>age = 20</a:t>
            </a:r>
          </a:p>
          <a:p>
            <a:r>
              <a:rPr lang="en-US" dirty="0"/>
              <a:t>salary = 25000.50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E4D8-4AD3-58B5-BEE8-DD55E1BB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034" y="2660539"/>
            <a:ext cx="7092390" cy="228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7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D5DB-3563-8558-C9FA-F0C7E071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8152-FA3C-7176-D3EF-69352997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Understanding 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AF04-8AB9-5A3B-C934-2080FA94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0F582-C818-9F4E-E47A-9F00C230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91" y="1626639"/>
            <a:ext cx="6140709" cy="47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0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C8CB-7F80-8DC0-046F-0DDD88EC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63BA-8642-68B2-0D90-481F8C516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are symbols used to perform operations on variables and values.</a:t>
            </a:r>
          </a:p>
          <a:p>
            <a:r>
              <a:rPr lang="en-IN" dirty="0"/>
              <a:t>Types of Operators</a:t>
            </a:r>
          </a:p>
        </p:txBody>
      </p:sp>
    </p:spTree>
    <p:extLst>
      <p:ext uri="{BB962C8B-B14F-4D97-AF65-F5344CB8AC3E}">
        <p14:creationId xmlns:p14="http://schemas.microsoft.com/office/powerpoint/2010/main" val="59084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396B-269D-BFB5-E0B9-04564428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C9B5-B240-CDF5-47FF-D1E1AF34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3DC1-A901-073B-173A-0DA80B6D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Arithmetic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B3EEA8-F46B-E698-4D4A-D579740E8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407644"/>
              </p:ext>
            </p:extLst>
          </p:nvPr>
        </p:nvGraphicFramePr>
        <p:xfrm>
          <a:off x="838200" y="2517060"/>
          <a:ext cx="5336457" cy="3794840"/>
        </p:xfrm>
        <a:graphic>
          <a:graphicData uri="http://schemas.openxmlformats.org/drawingml/2006/table">
            <a:tbl>
              <a:tblPr/>
              <a:tblGrid>
                <a:gridCol w="1778819">
                  <a:extLst>
                    <a:ext uri="{9D8B030D-6E8A-4147-A177-3AD203B41FA5}">
                      <a16:colId xmlns:a16="http://schemas.microsoft.com/office/drawing/2014/main" val="2255110532"/>
                    </a:ext>
                  </a:extLst>
                </a:gridCol>
                <a:gridCol w="1778819">
                  <a:extLst>
                    <a:ext uri="{9D8B030D-6E8A-4147-A177-3AD203B41FA5}">
                      <a16:colId xmlns:a16="http://schemas.microsoft.com/office/drawing/2014/main" val="2116967914"/>
                    </a:ext>
                  </a:extLst>
                </a:gridCol>
                <a:gridCol w="1778819">
                  <a:extLst>
                    <a:ext uri="{9D8B030D-6E8A-4147-A177-3AD203B41FA5}">
                      <a16:colId xmlns:a16="http://schemas.microsoft.com/office/drawing/2014/main" val="788694135"/>
                    </a:ext>
                  </a:extLst>
                </a:gridCol>
              </a:tblGrid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303761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445752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-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5220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677791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727244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%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005956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Floor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//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480870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**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16918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435D5F7-719B-3461-5C80-21B1E6E9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426" y="743113"/>
            <a:ext cx="5161936" cy="55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94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C1F6-B0EE-AFC8-63AC-1DAE3124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2D08-3B46-BD76-6FD4-0FA31DB3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8EB3A-AA08-5215-4085-804B2D959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 Comparison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63007D-51FF-C601-50A7-73EB8E273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0377"/>
              </p:ext>
            </p:extLst>
          </p:nvPr>
        </p:nvGraphicFramePr>
        <p:xfrm>
          <a:off x="985684" y="2848954"/>
          <a:ext cx="4579374" cy="2560320"/>
        </p:xfrm>
        <a:graphic>
          <a:graphicData uri="http://schemas.openxmlformats.org/drawingml/2006/table">
            <a:tbl>
              <a:tblPr/>
              <a:tblGrid>
                <a:gridCol w="2289687">
                  <a:extLst>
                    <a:ext uri="{9D8B030D-6E8A-4147-A177-3AD203B41FA5}">
                      <a16:colId xmlns:a16="http://schemas.microsoft.com/office/drawing/2014/main" val="1717180612"/>
                    </a:ext>
                  </a:extLst>
                </a:gridCol>
                <a:gridCol w="2289687">
                  <a:extLst>
                    <a:ext uri="{9D8B030D-6E8A-4147-A177-3AD203B41FA5}">
                      <a16:colId xmlns:a16="http://schemas.microsoft.com/office/drawing/2014/main" val="422614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66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85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382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66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Greater Than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958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Less Than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93841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56DD429-4629-15F0-3E58-98FA938C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576" y="1089548"/>
            <a:ext cx="5066197" cy="526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1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3695-6565-D5FF-1CCD-AABE1D1D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F7A0-6086-9E05-AD97-881CF2F7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AB3D-898C-7520-2ECA-D14A098F7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3. Logical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251DB-94A1-42C1-9083-A923EC406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697236"/>
              </p:ext>
            </p:extLst>
          </p:nvPr>
        </p:nvGraphicFramePr>
        <p:xfrm>
          <a:off x="1074173" y="2738832"/>
          <a:ext cx="4176252" cy="2286000"/>
        </p:xfrm>
        <a:graphic>
          <a:graphicData uri="http://schemas.openxmlformats.org/drawingml/2006/table">
            <a:tbl>
              <a:tblPr/>
              <a:tblGrid>
                <a:gridCol w="2088126">
                  <a:extLst>
                    <a:ext uri="{9D8B030D-6E8A-4147-A177-3AD203B41FA5}">
                      <a16:colId xmlns:a16="http://schemas.microsoft.com/office/drawing/2014/main" val="38751369"/>
                    </a:ext>
                  </a:extLst>
                </a:gridCol>
                <a:gridCol w="2088126">
                  <a:extLst>
                    <a:ext uri="{9D8B030D-6E8A-4147-A177-3AD203B41FA5}">
                      <a16:colId xmlns:a16="http://schemas.microsoft.com/office/drawing/2014/main" val="975380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3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True if both conditions are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00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True if one condition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13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the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10286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7BF3AB7-94EC-EC45-074D-7AF01FD6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445" y="1825625"/>
            <a:ext cx="5302685" cy="343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71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4039-A727-92E5-BAED-2C43DB75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55AE-0410-7D8E-ABF9-377E9E14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Python Basic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45C3-CE4B-202A-36D7-7A00508AB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4. Assignment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6DAF49-A874-24AA-72FC-4F9B3877B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53713"/>
              </p:ext>
            </p:extLst>
          </p:nvPr>
        </p:nvGraphicFramePr>
        <p:xfrm>
          <a:off x="1015180" y="2648374"/>
          <a:ext cx="4677698" cy="3272952"/>
        </p:xfrm>
        <a:graphic>
          <a:graphicData uri="http://schemas.openxmlformats.org/drawingml/2006/table">
            <a:tbl>
              <a:tblPr/>
              <a:tblGrid>
                <a:gridCol w="2338849">
                  <a:extLst>
                    <a:ext uri="{9D8B030D-6E8A-4147-A177-3AD203B41FA5}">
                      <a16:colId xmlns:a16="http://schemas.microsoft.com/office/drawing/2014/main" val="258744998"/>
                    </a:ext>
                  </a:extLst>
                </a:gridCol>
                <a:gridCol w="2338849">
                  <a:extLst>
                    <a:ext uri="{9D8B030D-6E8A-4147-A177-3AD203B41FA5}">
                      <a16:colId xmlns:a16="http://schemas.microsoft.com/office/drawing/2014/main" val="1610990703"/>
                    </a:ext>
                  </a:extLst>
                </a:gridCol>
              </a:tblGrid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27060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367569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+=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106970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-=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868375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 *=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547762"/>
                  </a:ext>
                </a:extLst>
              </a:tr>
              <a:tr h="545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 /=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3707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24A9BDE-5066-A4A5-BDA5-BB0B6B34A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70" y="1558872"/>
            <a:ext cx="5204911" cy="48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36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B29F-34D4-C0B7-5EF0-237EE310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Understanding Python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767E-B4F3-7685-CBB3-AA6B9D624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Python Blocks?</a:t>
            </a:r>
          </a:p>
          <a:p>
            <a:r>
              <a:rPr lang="en-US" dirty="0"/>
              <a:t>A block is a group of statements having the same indentation level.</a:t>
            </a:r>
          </a:p>
          <a:p>
            <a:r>
              <a:rPr lang="en-US" dirty="0"/>
              <a:t>Python uses indentation instead of braces {}.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8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C552-A52E-E3BE-538A-B3998D5F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5FB0-6E47-818F-A9A2-79308379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Understanding Python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C969-DAAD-9DFE-FE29-5E296F81B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 of Block</a:t>
            </a:r>
          </a:p>
          <a:p>
            <a:r>
              <a:rPr lang="en-US" dirty="0"/>
              <a:t>age = 18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age &gt;= 18:</a:t>
            </a:r>
            <a:br>
              <a:rPr lang="en-US" dirty="0"/>
            </a:br>
            <a:r>
              <a:rPr lang="en-US" dirty="0"/>
              <a:t>    print("Eligible for voting")</a:t>
            </a:r>
            <a:br>
              <a:rPr lang="en-US" dirty="0"/>
            </a:br>
            <a:r>
              <a:rPr lang="en-US" dirty="0"/>
              <a:t>    print("Adult")</a:t>
            </a:r>
          </a:p>
          <a:p>
            <a:r>
              <a:rPr lang="en-US" b="1" dirty="0"/>
              <a:t>Important Points</a:t>
            </a:r>
          </a:p>
          <a:p>
            <a:r>
              <a:rPr lang="en-US" dirty="0"/>
              <a:t>Indentation is mandatory in Python </a:t>
            </a:r>
          </a:p>
          <a:p>
            <a:r>
              <a:rPr lang="en-US" dirty="0"/>
              <a:t>Usually 4 spaces are used </a:t>
            </a:r>
          </a:p>
          <a:p>
            <a:r>
              <a:rPr lang="en-US" dirty="0"/>
              <a:t>Incorrect indentation gives error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C8333-08D9-C650-E63B-0C60C2D4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951" y="1825625"/>
            <a:ext cx="4343776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4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6250-66B4-7633-4076-35138D91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2E82-77C6-F4DC-CFCF-FA3EA48D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Understanding Python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57F58-7437-4A72-F18D-BBE4EB5CD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of Loop Block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b="1" dirty="0"/>
              <a:t>Formula of range()</a:t>
            </a:r>
          </a:p>
          <a:p>
            <a:r>
              <a:rPr lang="en-US" dirty="0"/>
              <a:t>range(start, stop)</a:t>
            </a:r>
          </a:p>
          <a:p>
            <a:r>
              <a:rPr lang="en-US" dirty="0"/>
              <a:t>start → included </a:t>
            </a:r>
          </a:p>
          <a:p>
            <a:r>
              <a:rPr lang="en-US" dirty="0"/>
              <a:t>stop → not included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CC0BF-2567-CD3F-1775-679DBCCB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776" y="2552624"/>
            <a:ext cx="4976291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42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C589-896F-D03B-F545-872A624B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DC15-5A67-B9B4-504D-ECF1C3D0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Understanding Python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56E3-165B-6CB2-747B-BD980EAEA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Nested Blocks</a:t>
            </a:r>
          </a:p>
          <a:p>
            <a:r>
              <a:rPr lang="en-US" dirty="0"/>
              <a:t>x = 10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x &gt; 5:</a:t>
            </a:r>
            <a:br>
              <a:rPr lang="en-US" dirty="0"/>
            </a:br>
            <a:r>
              <a:rPr lang="en-US" dirty="0"/>
              <a:t>    print("Greater than 5")</a:t>
            </a:r>
            <a:br>
              <a:rPr lang="en-US" dirty="0"/>
            </a:br>
            <a:r>
              <a:rPr lang="en-US" dirty="0"/>
              <a:t>    </a:t>
            </a:r>
            <a:br>
              <a:rPr lang="en-US" dirty="0"/>
            </a:br>
            <a:r>
              <a:rPr lang="en-US" dirty="0"/>
              <a:t>    if x &gt; 8:</a:t>
            </a:r>
            <a:br>
              <a:rPr lang="en-US" dirty="0"/>
            </a:br>
            <a:r>
              <a:rPr lang="en-US" dirty="0"/>
              <a:t>        print("Greater than 8")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A95AC-554C-772F-824D-62262A5F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426" y="1825625"/>
            <a:ext cx="5129453" cy="299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60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643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Python</vt:lpstr>
      <vt:lpstr>1. Conceptual Introduction to Python</vt:lpstr>
      <vt:lpstr>1. Conceptual Introduction to Python</vt:lpstr>
      <vt:lpstr>1. Conceptual Introduction to Python</vt:lpstr>
      <vt:lpstr>2. Installation and Working with Python</vt:lpstr>
      <vt:lpstr>2. Installation and Working with Python</vt:lpstr>
      <vt:lpstr>2. Installation and Working with Python</vt:lpstr>
      <vt:lpstr>3. Running First Python Program</vt:lpstr>
      <vt:lpstr>4. Understanding Python Variables</vt:lpstr>
      <vt:lpstr>4. Understanding Python Variables</vt:lpstr>
      <vt:lpstr>4. Understanding Python Variables</vt:lpstr>
      <vt:lpstr>5. Python Basic Operators</vt:lpstr>
      <vt:lpstr>5. Python Basic Operators</vt:lpstr>
      <vt:lpstr>5. Python Basic Operators</vt:lpstr>
      <vt:lpstr>5. Python Basic Operators</vt:lpstr>
      <vt:lpstr>5. Python Basic Operators</vt:lpstr>
      <vt:lpstr>6. Understanding Python Blocks</vt:lpstr>
      <vt:lpstr>6. Understanding Python Blocks</vt:lpstr>
      <vt:lpstr>6. Understanding Python Blocks</vt:lpstr>
      <vt:lpstr>6. Understanding Python Blocks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Krishnaba Solanki</dc:creator>
  <cp:lastModifiedBy>Krishnaba Solanki</cp:lastModifiedBy>
  <cp:revision>32</cp:revision>
  <dcterms:created xsi:type="dcterms:W3CDTF">2026-05-10T11:18:12Z</dcterms:created>
  <dcterms:modified xsi:type="dcterms:W3CDTF">2026-05-10T12:07:46Z</dcterms:modified>
</cp:coreProperties>
</file>